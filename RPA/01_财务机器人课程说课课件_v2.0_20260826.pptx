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64008"/>
          </a:xfrm>
          <a:prstGeom prst="rect">
            <a:avLst/>
          </a:prstGeom>
          <a:solidFill>
            <a:srgbClr val="C65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99669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FFFFFF"/>
                </a:solidFill>
                <a:latin typeface="微软雅黑"/>
                <a:ea typeface="微软雅黑"/>
              </a:rPr>
              <a:t>财务机器人应用与开发</a:t>
            </a:r>
          </a:p>
          <a:p>
            <a:pPr algn="ctr"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说 课 课 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86200"/>
            <a:ext cx="9966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0">
                <a:solidFill>
                  <a:srgbClr val="D9E2F3"/>
                </a:solidFill>
                <a:latin typeface="微软雅黑"/>
                <a:ea typeface="微软雅黑"/>
              </a:rPr>
              <a:t>面向专家评委与同行教师 · 教学能力比赛 / 教研评课场景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846320"/>
            <a:ext cx="9966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0">
                <a:solidFill>
                  <a:srgbClr val="D9E2F3"/>
                </a:solidFill>
                <a:latin typeface="微软雅黑"/>
                <a:ea typeface="微软雅黑"/>
              </a:rPr>
              <a:t>新道智多星 RPA 设计器（离线版） × AI 智能流程自动化</a:t>
            </a:r>
          </a:p>
          <a:p>
            <a:pPr algn="ctr">
              <a:spcAft>
                <a:spcPts val="800"/>
              </a:spcAft>
            </a:pPr>
            <a:r>
              <a:rPr sz="1800" b="0">
                <a:solidFill>
                  <a:srgbClr val="D9E2F3"/>
                </a:solidFill>
                <a:latin typeface="微软雅黑"/>
                <a:ea typeface="微软雅黑"/>
              </a:rPr>
              <a:t>2026—2027 学年第一学期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03504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B4C3D7"/>
                </a:solidFill>
                <a:latin typeface="微软雅黑"/>
                <a:ea typeface="微软雅黑"/>
              </a:rPr>
              <a:t>文档编号 01 ｜ v2.0 ｜ 2026-08-26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4E79"/>
                </a:solidFill>
                <a:latin typeface="微软雅黑"/>
                <a:ea typeface="微软雅黑"/>
              </a:rPr>
              <a:t>说课框架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2194560" cy="54864"/>
          </a:xfrm>
          <a:prstGeom prst="rect">
            <a:avLst/>
          </a:prstGeom>
          <a:solidFill>
            <a:srgbClr val="C65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595959"/>
                </a:solidFill>
                <a:latin typeface="微软雅黑"/>
                <a:ea typeface="微软雅黑"/>
              </a:rPr>
              <a:t>本课件定位：专家评委 / 同行教师评审场景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《财务机器人应用与开发》说课 · 文档编号 01 · v2.0 · 2026-08-26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262626"/>
                </a:solidFill>
                <a:latin typeface="微软雅黑"/>
                <a:ea typeface="微软雅黑"/>
              </a:rPr>
              <a:t>● 说教材 —— 课程定位与依据</a:t>
            </a:r>
          </a:p>
          <a:p>
            <a:pPr>
              <a:spcAft>
                <a:spcPts val="1200"/>
              </a:spcAft>
            </a:pPr>
            <a:r>
              <a:rPr sz="2100" b="1">
                <a:solidFill>
                  <a:srgbClr val="262626"/>
                </a:solidFill>
                <a:latin typeface="微软雅黑"/>
                <a:ea typeface="微软雅黑"/>
              </a:rPr>
              <a:t>● 说学情 —— 已经会什么、缺什么</a:t>
            </a:r>
          </a:p>
          <a:p>
            <a:pPr>
              <a:spcAft>
                <a:spcPts val="1200"/>
              </a:spcAft>
            </a:pPr>
            <a:r>
              <a:rPr sz="2100" b="1">
                <a:solidFill>
                  <a:srgbClr val="262626"/>
                </a:solidFill>
                <a:latin typeface="微软雅黑"/>
                <a:ea typeface="微软雅黑"/>
              </a:rPr>
              <a:t>● 说目标 —— 知识 · 技能 · 素养</a:t>
            </a:r>
          </a:p>
          <a:p>
            <a:pPr>
              <a:spcAft>
                <a:spcPts val="1200"/>
              </a:spcAft>
            </a:pPr>
            <a:r>
              <a:rPr sz="2100" b="1">
                <a:solidFill>
                  <a:srgbClr val="262626"/>
                </a:solidFill>
                <a:latin typeface="微软雅黑"/>
                <a:ea typeface="微软雅黑"/>
              </a:rPr>
              <a:t>● 说重难点 —— 重点与突破策略</a:t>
            </a:r>
          </a:p>
          <a:p>
            <a:pPr>
              <a:spcAft>
                <a:spcPts val="1200"/>
              </a:spcAft>
            </a:pPr>
            <a:r>
              <a:rPr sz="2100" b="1">
                <a:solidFill>
                  <a:srgbClr val="262626"/>
                </a:solidFill>
                <a:latin typeface="微软雅黑"/>
                <a:ea typeface="微软雅黑"/>
              </a:rPr>
              <a:t>● 说内容 —— 原有六项目 + 新增项目七</a:t>
            </a:r>
          </a:p>
          <a:p>
            <a:pPr>
              <a:spcAft>
                <a:spcPts val="1200"/>
              </a:spcAft>
            </a:pPr>
            <a:r>
              <a:rPr sz="2100" b="1">
                <a:solidFill>
                  <a:srgbClr val="262626"/>
                </a:solidFill>
                <a:latin typeface="微软雅黑"/>
                <a:ea typeface="微软雅黑"/>
              </a:rPr>
              <a:t>● 说教法学法 —— 任务驱动 + AI 点睛</a:t>
            </a:r>
          </a:p>
          <a:p>
            <a:pPr>
              <a:spcAft>
                <a:spcPts val="1200"/>
              </a:spcAft>
            </a:pPr>
            <a:r>
              <a:rPr sz="2100" b="1">
                <a:solidFill>
                  <a:srgbClr val="262626"/>
                </a:solidFill>
                <a:latin typeface="微软雅黑"/>
                <a:ea typeface="微软雅黑"/>
              </a:rPr>
              <a:t>● 说教学过程 —— 90 分钟课堂标准流程</a:t>
            </a:r>
          </a:p>
          <a:p>
            <a:pPr>
              <a:spcAft>
                <a:spcPts val="1200"/>
              </a:spcAft>
            </a:pPr>
            <a:r>
              <a:rPr sz="2100" b="1">
                <a:solidFill>
                  <a:srgbClr val="262626"/>
                </a:solidFill>
                <a:latin typeface="微软雅黑"/>
                <a:ea typeface="微软雅黑"/>
              </a:rPr>
              <a:t>● 说评价与反思 —— 过程性 + 作品化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4E79"/>
                </a:solidFill>
                <a:latin typeface="微软雅黑"/>
                <a:ea typeface="微软雅黑"/>
              </a:rPr>
              <a:t>说教材：课程定位与依据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2194560" cy="54864"/>
          </a:xfrm>
          <a:prstGeom prst="rect">
            <a:avLst/>
          </a:prstGeom>
          <a:solidFill>
            <a:srgbClr val="C65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595959"/>
                </a:solidFill>
                <a:latin typeface="微软雅黑"/>
                <a:ea typeface="微软雅黑"/>
              </a:rPr>
              <a:t>培养能指挥「数字员工」的财务人才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《财务机器人应用与开发》说课 · 文档编号 01 · v2.0 · 2026-08-26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 b="1">
                <a:solidFill>
                  <a:srgbClr val="262626"/>
                </a:solidFill>
                <a:latin typeface="微软雅黑"/>
                <a:ea typeface="微软雅黑"/>
              </a:rPr>
              <a:t>● 课程性质：会计类专业课程，衔接《基础会计》凭证、账簿、报表知识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262626"/>
                </a:solidFill>
                <a:latin typeface="微软雅黑"/>
                <a:ea typeface="微软雅黑"/>
              </a:rPr>
              <a:t>● 课程依据：会计专业人才培养方案 · 数字化财务岗位能力要求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262626"/>
                </a:solidFill>
                <a:latin typeface="微软雅黑"/>
                <a:ea typeface="微软雅黑"/>
              </a:rPr>
              <a:t>● 课程理念：RPA 是手，AI 是脑 —— 机器人干活，AI 想事，学生指挥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262626"/>
                </a:solidFill>
                <a:latin typeface="微软雅黑"/>
                <a:ea typeface="微软雅黑"/>
              </a:rPr>
              <a:t>● 工具体系：智多星 RPA 设计器（离线版）+ 云端 AI 平台 + 飞书多维表格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4E79"/>
                </a:solidFill>
                <a:latin typeface="微软雅黑"/>
                <a:ea typeface="微软雅黑"/>
              </a:rPr>
              <a:t>说学情：已经会什么、缺什么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2194560" cy="54864"/>
          </a:xfrm>
          <a:prstGeom prst="rect">
            <a:avLst/>
          </a:prstGeom>
          <a:solidFill>
            <a:srgbClr val="C65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595959"/>
                </a:solidFill>
                <a:latin typeface="微软雅黑"/>
                <a:ea typeface="微软雅黑"/>
              </a:rPr>
              <a:t>零基础学生的破局之道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《财务机器人应用与开发》说课 · 文档编号 01 · v2.0 · 2026-08-26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 b="1">
                <a:solidFill>
                  <a:srgbClr val="262626"/>
                </a:solidFill>
                <a:latin typeface="微软雅黑"/>
                <a:ea typeface="微软雅黑"/>
              </a:rPr>
              <a:t>● 已学《基础会计》：看得懂凭证、账簿、报表 —— 财务语言无障碍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262626"/>
                </a:solidFill>
                <a:latin typeface="微软雅黑"/>
                <a:ea typeface="微软雅黑"/>
              </a:rPr>
              <a:t>● 工具习惯：熟悉企业微信、飞书；亲近短视频与 AI 生成内容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262626"/>
                </a:solidFill>
                <a:latin typeface="微软雅黑"/>
                <a:ea typeface="微软雅黑"/>
              </a:rPr>
              <a:t>● AI 与编程零基础：好奇与畏难并存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262626"/>
                </a:solidFill>
                <a:latin typeface="微软雅黑"/>
                <a:ea typeface="微软雅黑"/>
              </a:rPr>
              <a:t>● 对策：先看热闹、再学门道 —— 每课 10–15 分钟「AI 点睛」降门槛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4E79"/>
                </a:solidFill>
                <a:latin typeface="微软雅黑"/>
                <a:ea typeface="微软雅黑"/>
              </a:rPr>
              <a:t>说教学目标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2194560" cy="54864"/>
          </a:xfrm>
          <a:prstGeom prst="rect">
            <a:avLst/>
          </a:prstGeom>
          <a:solidFill>
            <a:srgbClr val="C65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595959"/>
                </a:solidFill>
                <a:latin typeface="微软雅黑"/>
                <a:ea typeface="微软雅黑"/>
              </a:rPr>
              <a:t>三维目标 · 可检测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《财务机器人应用与开发》说课 · 文档编号 01 · v2.0 · 2026-08-26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10312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7860"/>
                <a:gridCol w="858774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 anchor="ctr" marL="73152" marR="73152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具体目标</a:t>
                      </a:r>
                    </a:p>
                  </a:txBody>
                  <a:tcPr anchor="ctr" marL="73152" marR="73152" marT="27432" marB="27432"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知识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理解 RPA 与 AI 在财务中的作用；掌握智多星变量、命令与自动化组件</a:t>
                      </a:r>
                    </a:p>
                  </a:txBody>
                  <a:tcPr anchor="ctr" marL="73152" marR="73152" marT="27432" marB="27432"/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技能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能开发财务机器人；能搭建财务问答智能体、建设知识库、用 AI 整理财务资料</a:t>
                      </a:r>
                    </a:p>
                  </a:txBody>
                  <a:tcPr anchor="ctr" marL="73152" marR="73152" marT="27432" marB="27432"/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素养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数据安全（凭证脱敏）；人机协同；复核与批判思维 —— 机器人和 AI 都可能错</a:t>
                      </a:r>
                    </a:p>
                  </a:txBody>
                  <a:tcPr anchor="ctr" marL="73152" marR="73152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4E79"/>
                </a:solidFill>
                <a:latin typeface="微软雅黑"/>
                <a:ea typeface="微软雅黑"/>
              </a:rPr>
              <a:t>说重难点与突破策略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2194560" cy="54864"/>
          </a:xfrm>
          <a:prstGeom prst="rect">
            <a:avLst/>
          </a:prstGeom>
          <a:solidFill>
            <a:srgbClr val="C65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595959"/>
                </a:solidFill>
                <a:latin typeface="微软雅黑"/>
                <a:ea typeface="微软雅黑"/>
              </a:rPr>
              <a:t>重点抓得准，难点破得开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《财务机器人应用与开发》说课 · 文档编号 01 · v2.0 · 2026-08-26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 b="1">
                <a:solidFill>
                  <a:srgbClr val="262626"/>
                </a:solidFill>
                <a:latin typeface="微软雅黑"/>
                <a:ea typeface="微软雅黑"/>
              </a:rPr>
              <a:t>● 重点：变量与命令、Excel / 浏览器 / 邮件自动化、发票查验机器人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262626"/>
                </a:solidFill>
                <a:latin typeface="微软雅黑"/>
                <a:ea typeface="微软雅黑"/>
              </a:rPr>
              <a:t>● 难点：循环与条件逻辑、异常处理、AI 幻觉识别与人工复核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262626"/>
                </a:solidFill>
                <a:latin typeface="微软雅黑"/>
                <a:ea typeface="微软雅黑"/>
              </a:rPr>
              <a:t>● 突破策略：任务小步拆解 → 报错现场教学 → 人机 PK 与双人复核游戏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4E79"/>
                </a:solidFill>
                <a:latin typeface="微软雅黑"/>
                <a:ea typeface="微软雅黑"/>
              </a:rPr>
              <a:t>说内容（上）：原有六大项目 · 26 课时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2194560" cy="54864"/>
          </a:xfrm>
          <a:prstGeom prst="rect">
            <a:avLst/>
          </a:prstGeom>
          <a:solidFill>
            <a:srgbClr val="C65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595959"/>
                </a:solidFill>
                <a:latin typeface="微软雅黑"/>
                <a:ea typeface="微软雅黑"/>
              </a:rPr>
              <a:t>沿用智多星设计器主线，内容与顺序不变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《财务机器人应用与开发》说课 · 文档编号 01 · v2.0 · 2026-08-26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011680"/>
          <a:ext cx="1051559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6231"/>
                <a:gridCol w="6272463"/>
                <a:gridCol w="1106905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 marL="73152" marR="73152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主要内容</a:t>
                      </a:r>
                    </a:p>
                  </a:txBody>
                  <a:tcPr anchor="ctr" marL="73152" marR="73152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课时</a:t>
                      </a:r>
                    </a:p>
                  </a:txBody>
                  <a:tcPr anchor="ctr" marL="73152" marR="73152" marT="27432" marB="27432"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项目一 说课与 RPA 认知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说课；AI 发展与职业规划；RPA 介绍与商科应用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 marL="73152" marR="73152" marT="27432" marB="27432"/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项目二 初识 RPA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基本介绍；工具介绍；流程优化；注册安装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anchor="ctr" marL="73152" marR="73152" marT="27432" marB="27432"/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项目三 变量与命令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五类变量；命令含义、区分与应用场景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 marL="73152" marR="73152" marT="27432" marB="27432"/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项目四 自动化处理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Excel / 浏览器 / 邮件自动化；屏幕录制；OCR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 marL="73152" marR="73152" marT="27432" marB="27432"/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项目五 实施方法论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需求评估 → 方案设计 → 配置开发 → 改进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 marL="73152" marR="73152" marT="27432" marB="27432"/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项目六 税务机器人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验证码识别；发票查验；企业信息查验；发票开具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anchor="ctr" marL="73152" marR="73152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4E79"/>
                </a:solidFill>
                <a:latin typeface="微软雅黑"/>
                <a:ea typeface="微软雅黑"/>
              </a:rPr>
              <a:t>说内容（下）：新增项目七 · 6 课时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2194560" cy="54864"/>
          </a:xfrm>
          <a:prstGeom prst="rect">
            <a:avLst/>
          </a:prstGeom>
          <a:solidFill>
            <a:srgbClr val="C65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595959"/>
                </a:solidFill>
                <a:latin typeface="微软雅黑"/>
                <a:ea typeface="微软雅黑"/>
              </a:rPr>
              <a:t>今年新增：让「RPA 的手」接上「AI 的脑」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《财务机器人应用与开发》说课 · 文档编号 01 · v2.0 · 2026-08-26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011680"/>
          <a:ext cx="1051559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5844"/>
                <a:gridCol w="8020372"/>
                <a:gridCol w="1069383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任务</a:t>
                      </a:r>
                    </a:p>
                  </a:txBody>
                  <a:tcPr anchor="ctr" marL="73152" marR="73152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 marL="73152" marR="73152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课时</a:t>
                      </a:r>
                    </a:p>
                  </a:txBody>
                  <a:tcPr anchor="ctr" marL="73152" marR="73152" marT="27432" marB="27432"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任务 1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生成式 AI 与财务提示词：原理、四要素、财务场景练习、伦理与数据安全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 marL="73152" marR="73152" marT="27432" marB="27432"/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任务 2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财务知识库建设：报销制度 / 税法要点 → 上传切片 → 问答验证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 marL="73152" marR="73152" marT="27432" marB="27432"/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任务 3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智能体财务助手：搭「财务政策问答助手」，演示智多星取数 + 助手解读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 marL="73152" marR="73152" marT="27432" marB="27432"/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任务 4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AIGC 整理与多维表格：单据清单、分析报告、飞书多维表格 AI 字段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 marL="73152" marR="73152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4E79"/>
                </a:solidFill>
                <a:latin typeface="微软雅黑"/>
                <a:ea typeface="微软雅黑"/>
              </a:rPr>
              <a:t>说教法与学法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2194560" cy="54864"/>
          </a:xfrm>
          <a:prstGeom prst="rect">
            <a:avLst/>
          </a:prstGeom>
          <a:solidFill>
            <a:srgbClr val="C65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595959"/>
                </a:solidFill>
                <a:latin typeface="微软雅黑"/>
                <a:ea typeface="微软雅黑"/>
              </a:rPr>
              <a:t>四原则：扣题 · 有来路 · 有逻辑链 · 可复现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《财务机器人应用与开发》说课 · 文档编号 01 · v2.0 · 2026-08-26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 b="1">
                <a:solidFill>
                  <a:srgbClr val="262626"/>
                </a:solidFill>
                <a:latin typeface="微软雅黑"/>
                <a:ea typeface="微软雅黑"/>
              </a:rPr>
              <a:t>● 教法：任务驱动 + 教师示范 + 费曼四步（现象 → 猜测 → 讲解 → 练习）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262626"/>
                </a:solidFill>
                <a:latin typeface="微软雅黑"/>
                <a:ea typeface="微软雅黑"/>
              </a:rPr>
              <a:t>● 学法：做中学、小组协作、作品展示互评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262626"/>
                </a:solidFill>
                <a:latin typeface="微软雅黑"/>
                <a:ea typeface="微软雅黑"/>
              </a:rPr>
              <a:t>● 每课「AI 点睛」10–15 分钟，全部紧扣财务机器人主题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262626"/>
                </a:solidFill>
                <a:latin typeface="微软雅黑"/>
                <a:ea typeface="微软雅黑"/>
              </a:rPr>
              <a:t>● 创意任务库：配音连环画、新品发布会、抓 bug 大赛、流水线接力赛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4E79"/>
                </a:solidFill>
                <a:latin typeface="微软雅黑"/>
                <a:ea typeface="微软雅黑"/>
              </a:rPr>
              <a:t>说教学过程：90 分钟标准课堂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2194560" cy="54864"/>
          </a:xfrm>
          <a:prstGeom prst="rect">
            <a:avLst/>
          </a:prstGeom>
          <a:solidFill>
            <a:srgbClr val="C65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595959"/>
                </a:solidFill>
                <a:latin typeface="微软雅黑"/>
                <a:ea typeface="微软雅黑"/>
              </a:rPr>
              <a:t>每个环节都有明确的教学意图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《财务机器人应用与开发》说课 · 文档编号 01 · v2.0 · 2026-08-26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011680"/>
          <a:ext cx="1051559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034"/>
                <a:gridCol w="4895193"/>
                <a:gridCol w="3807372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时段</a:t>
                      </a:r>
                    </a:p>
                  </a:txBody>
                  <a:tcPr anchor="ctr" marL="73152" marR="73152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环节</a:t>
                      </a:r>
                    </a:p>
                  </a:txBody>
                  <a:tcPr anchor="ctr" marL="73152" marR="73152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教学意图</a:t>
                      </a:r>
                    </a:p>
                  </a:txBody>
                  <a:tcPr anchor="ctr" marL="73152" marR="73152" marT="27432" marB="27432"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0–5 min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引入：财务场景问题（漫画 / 视频）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立靶子：为什么要机器人</a:t>
                      </a:r>
                    </a:p>
                  </a:txBody>
                  <a:tcPr anchor="ctr" marL="73152" marR="73152" marT="27432" marB="27432"/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5–20 min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演示：教师当堂搭流程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先见完整成品</a:t>
                      </a:r>
                    </a:p>
                  </a:txBody>
                  <a:tcPr anchor="ctr" marL="73152" marR="73152" marT="27432" marB="27432"/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20–23 min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暂停点：先猜后讲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预测效应，记得牢</a:t>
                      </a:r>
                    </a:p>
                  </a:txBody>
                  <a:tcPr anchor="ctr" marL="73152" marR="73152" marT="27432" marB="27432"/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23–38 min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讲解：核心概念拆解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循环 / 条件等关键概念</a:t>
                      </a:r>
                    </a:p>
                  </a:txBody>
                  <a:tcPr anchor="ctr" marL="73152" marR="73152" marT="27432" marB="27432"/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38–55 min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任务 1：小组协作改造流程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从模仿到改造</a:t>
                      </a:r>
                    </a:p>
                  </a:txBody>
                  <a:tcPr anchor="ctr" marL="73152" marR="73152" marT="27432" marB="27432"/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55–80 min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任务 2 + 展示：人机 PK、互评投票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展示即考核</a:t>
                      </a:r>
                    </a:p>
                  </a:txBody>
                  <a:tcPr anchor="ctr" marL="73152" marR="73152" marT="27432" marB="27432"/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80–90 min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收尾：坑点小结 + 课后任务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防课后翻车</a:t>
                      </a:r>
                    </a:p>
                  </a:txBody>
                  <a:tcPr anchor="ctr" marL="73152" marR="73152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4E79"/>
                </a:solidFill>
                <a:latin typeface="微软雅黑"/>
                <a:ea typeface="微软雅黑"/>
              </a:rPr>
              <a:t>说评价：过程性 + 作品化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2194560" cy="54864"/>
          </a:xfrm>
          <a:prstGeom prst="rect">
            <a:avLst/>
          </a:prstGeom>
          <a:solidFill>
            <a:srgbClr val="C65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《财务机器人应用与开发》说课 · 文档编号 01 · v2.0 · 2026-08-26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103120"/>
          <a:ext cx="1051559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0535"/>
                <a:gridCol w="7129220"/>
                <a:gridCol w="1425844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类别</a:t>
                      </a:r>
                    </a:p>
                  </a:txBody>
                  <a:tcPr anchor="ctr" marL="73152" marR="73152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考核项目</a:t>
                      </a:r>
                    </a:p>
                  </a:txBody>
                  <a:tcPr anchor="ctr" marL="73152" marR="73152" marT="27432" marB="27432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占比</a:t>
                      </a:r>
                    </a:p>
                  </a:txBody>
                  <a:tcPr anchor="ctr" marL="73152" marR="73152" marT="27432" marB="27432"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过程性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课堂任务积分 + 作品入班级彩蛋库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40%</a:t>
                      </a:r>
                    </a:p>
                  </a:txBody>
                  <a:tcPr anchor="ctr" marL="73152" marR="73152" marT="27432" marB="27432"/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过程性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机器人作业：需求说明书、抓 bug 诊断书、机器人简历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20%</a:t>
                      </a:r>
                    </a:p>
                  </a:txBody>
                  <a:tcPr anchor="ctr" marL="73152" marR="73152" marT="27432" marB="27432"/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期末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新品发布会：机器人演示 + AI 助手演示 + 答辩</a:t>
                      </a:r>
                    </a:p>
                  </a:txBody>
                  <a:tcPr anchor="ctr"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40%</a:t>
                      </a:r>
                    </a:p>
                  </a:txBody>
                  <a:tcPr anchor="ctr" marL="73152" marR="73152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4E79"/>
                </a:solidFill>
                <a:latin typeface="微软雅黑"/>
                <a:ea typeface="微软雅黑"/>
              </a:rPr>
              <a:t>说特色与教学反思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2194560" cy="54864"/>
          </a:xfrm>
          <a:prstGeom prst="rect">
            <a:avLst/>
          </a:prstGeom>
          <a:solidFill>
            <a:srgbClr val="C65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《财务机器人应用与开发》说课 · 文档编号 01 · v2.0 · 2026-08-26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 b="1">
                <a:solidFill>
                  <a:srgbClr val="262626"/>
                </a:solidFill>
                <a:latin typeface="微软雅黑"/>
                <a:ea typeface="微软雅黑"/>
              </a:rPr>
              <a:t>● 特色一 主线稳：智多星六大项目全覆盖，与原有课程无缝衔接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262626"/>
                </a:solidFill>
                <a:latin typeface="微软雅黑"/>
                <a:ea typeface="微软雅黑"/>
              </a:rPr>
              <a:t>● 特色二 点睛活：每课 AI 点睛紧扣财务机器人，逻辑链完整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262626"/>
                </a:solidFill>
                <a:latin typeface="微软雅黑"/>
                <a:ea typeface="微软雅黑"/>
              </a:rPr>
              <a:t>● 特色三 作品即作业：配音连环画、发布会、抓 bug 大赛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262626"/>
                </a:solidFill>
                <a:latin typeface="微软雅黑"/>
                <a:ea typeface="微软雅黑"/>
              </a:rPr>
              <a:t>● 反思预案一：机房无外网 → 教师演示 + 学生手机课后完成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262626"/>
                </a:solidFill>
                <a:latin typeface="微软雅黑"/>
                <a:ea typeface="微软雅黑"/>
              </a:rPr>
              <a:t>● 反思预案二：AI 结果不可控 → 双人复核机制贯穿全程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9966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800" b="1">
                <a:solidFill>
                  <a:srgbClr val="FFFFFF"/>
                </a:solidFill>
                <a:latin typeface="微软雅黑"/>
                <a:ea typeface="微软雅黑"/>
              </a:rPr>
              <a:t>敬请各位领导、专家、老师指导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0624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0">
                <a:solidFill>
                  <a:srgbClr val="D9E2F3"/>
                </a:solidFill>
                <a:latin typeface="微软雅黑"/>
                <a:ea typeface="微软雅黑"/>
              </a:rPr>
              <a:t>让机器人干活，让 AI 想事，让学生爱上指挥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