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对着 01-00 主文档用。不要把备注念给学生。变声：小新细而快，风间慢而平，旁白用本音。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1 分钟。不要在这里讲教材目录。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开学第一课把这段说完。抽人用 90-B2。空白的不批评。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旁白（本音）：不用动笔，就在脑子里想。这个月你花得最多的一笔钱是什么？你这个月一共花了多少？停 15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小新（细、快）：妈，再给我三百。妈妈（尖、快）：★你两千五花哪了？小新（慢、心虚）：……我不知道。停两秒。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旁白：他记了一个月。买瓶水都记。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算完你说：两千五百四十。他妈给他两千五。他超支了四十。——口头说，图上没有。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可以说「风间问他——」然后停住，让学生自己读图上的字。读完问：刚才谁猜到这个方向的，举手我看一眼。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小新（细、快）中午在食堂吃，十二块。晚上懒得下楼，点外卖，二十五。风间（慢、平）：★所以你这五百四，买的不是饭，是不想动。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他们要真的打开手机。不要催。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先口头问：管两百五十万需要做哪几件事？让两三个人说说。等他们说完，吉永老师（温柔、慢）：★小新那一个月，其实做了三件事。然后你才说三个术语。一秒都不能早。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接到成本。不要急着给「成本」两个字。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让学生先看图找。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合成一次停顿。找完就重算。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对一下学生算的数。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这张日历是铺垫，不能省。没有它，下一道加分题学生无从想起时间。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★本项目第一个加分题。你说：第5暂停点那题，写出「钱被压着」或者算出「360」的，册子举起来。走过去扫一眼，写对了说「这题全班就几个人写对，5分」。不用念。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对上加分题的答案。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接到「会计到底在管什么」。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下一题让他们自己判。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①管 ②不管（勤快不好用钱计量）③管 ④不管。对完再往下。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接到「为什么学会计」。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知识点①讲完、知识点③讲完，各抽 3 人举册子（90-B2）。第1周收点单表：最后 10 分钟发企业微信，当堂填当堂看谁没交。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对上学生写的三个问题。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第1周收到这里。下课前：抽人举册子；发开学点单（企业微信）。打地鼠这周不用。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当堂看谁没交。提交者就是姓名。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第2周。打地鼠放最后，不要放开头。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先放图，再让他们写自己的。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抽 3 人举册子：有字 2 分。不要当众念他们的数字。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接到天平。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资产 = 负债 + 所有者权益。术语还没给也可以先让他们看平。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合成一次停顿。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意思对就行。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术语在算完之后给。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加分题铺垫。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★加分题。你说：第11暂停点那题，猜到「赚了多少」「花了多少」这个方向的，册子举起来。猜到方向说「这题不好猜，5分」。不用念。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收入、费用。不要提前翻书。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这里不设暂停点。直接讲，把时间留给打地鼠。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打开 90-B1，难度选「要素档」。切忌上分录档。下课前导出成绩表。第1周没用过这个，这是第一次。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可打开 01-03 天平实验室网页投影。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从个人身家过渡到店。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下一题给 90 秒，跟着你填。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可用 01-03 网页一起投。上台尝试 +2。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这就是会计等式一直成立。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★本项目最难的加分题。你说：第14暂停点那题，自己归出两类的，册子举起来。写出来了说「这题全班没几个人归得出来，5分。」先让他说，说完再翻书验证。不要用「大家看课本第几页」把它冲掉。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机动素材。不要为了放完而赶。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时间够再用。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时间够再用。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时间够再用。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时间够再用。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时间够再用。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项目结束评奖：积分第1名、进步最大，各做一张合照图。做完先给本人看。第3周末不要当堂做图，课后做。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　认识会计工作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CC80"/>
                </a:solidFill>
                <a:latin typeface="微软雅黑"/>
                <a:ea typeface="微软雅黑"/>
                <a:cs typeface="微软雅黑"/>
              </a:rPr>
              <a:t>小新每个月两千五，花哪了自己说不清。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15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1～3 周　学生只看图和暂停点　你要说的话在备注栏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这三周要搞懂什么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1. 会计在做哪三件事：记下来、看出不对劲、决定怎么改。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2. 你有的、你欠的、真正属于你的——三边要平。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3. 六个词：资产、负债、所有者权益、收入、费用、利润。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先不用背定义。先把小新那两千五算明白。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册子怎么用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图放完，我会抽三个人。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把册子举起来就行。不用说一个字。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写了：2 分。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写得好或愿意念：这题算 5 分。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没写：跳过，我不说话。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一道题最多 5 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项目一第1暂停点　请暂停 15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先想两件事，再写在册子上：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我猜自己这个月花了 ______ 元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花得最多的是 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对不对没关系。写了就行。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1　小新答不上来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第1周</a:t>
            </a:r>
          </a:p>
        </p:txBody>
      </p:sp>
      <p:pic>
        <p:nvPicPr>
          <p:cNvPr id="5" name="Picture 4" descr="项目一-01_小新答不上来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一个月零花钱两千五。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每个月最后一周，还要再问他妈要三百。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妈问：你两千五花哪了？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小新：……我不知道。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2　一个月的账单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第1周</a:t>
            </a:r>
          </a:p>
        </p:txBody>
      </p:sp>
      <p:pic>
        <p:nvPicPr>
          <p:cNvPr id="5" name="Picture 4" descr="项目一-02_一个月的账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花一笔，记一笔。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合计那一栏是空的。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先自己加。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项目一第2暂停点　请暂停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这八笔加起来是多少？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在册子上算出来。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算完接着写：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如果是你，你会问哪一句？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合计图上没有。算完我口头说。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3　风间问的那一句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第1周</a:t>
            </a:r>
          </a:p>
        </p:txBody>
      </p:sp>
      <p:pic>
        <p:nvPicPr>
          <p:cNvPr id="5" name="Picture 4" descr="项目一-03_风间问的那一句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风间只问了一句：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外卖不也是吃饭吗，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你怎么还单独记一栏？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4　十二块和二十五块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第1周</a:t>
            </a:r>
          </a:p>
        </p:txBody>
      </p:sp>
      <p:pic>
        <p:nvPicPr>
          <p:cNvPr id="5" name="Picture 4" descr="项目一-04_十二块和二十五块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中午食堂：12 元。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晚上外卖：25 元。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风间：所以你这五百四，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买的不是饭，是不想动。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项目一第3暂停点　请暂停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打开你的外卖软件，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看这个月账单。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把真实数字写在册子上，再写：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我猜的和实际差了 ______ 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给足 30 秒。看完会有人笑、有人「卧槽」。让那个反应自己发生，别插话。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5　那三件事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第1周</a:t>
            </a:r>
          </a:p>
        </p:txBody>
      </p:sp>
      <p:pic>
        <p:nvPicPr>
          <p:cNvPr id="5" name="Picture 4" descr="项目一-05_那三件事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记下来。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看出不对劲。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决定怎么改。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这三件事，会计上叫：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核算、监督、预测决策。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名字最后才给。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6　我赚了四百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第1周</a:t>
            </a:r>
          </a:p>
        </p:txBody>
      </p:sp>
      <p:pic>
        <p:nvPicPr>
          <p:cNvPr id="5" name="Picture 4" descr="项目一-06_我赚了四百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小新觉得自己赚了四百。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真的吗？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7　被漏算的东西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第1周</a:t>
            </a:r>
          </a:p>
        </p:txBody>
      </p:sp>
      <p:pic>
        <p:nvPicPr>
          <p:cNvPr id="5" name="Picture 4" descr="项目一-07_被漏算的东西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有些东西他没算进去。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一样样找。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项目一第4暂停点　请暂停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看图，小新漏算了什么？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一样样找出来写在册子上。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然后重算：他实际赚了多少？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找出来自然就要加起来。给 30 秒。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8　重算一遍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第1周</a:t>
            </a:r>
          </a:p>
        </p:txBody>
      </p:sp>
      <p:pic>
        <p:nvPicPr>
          <p:cNvPr id="5" name="Picture 4" descr="项目一-08_重算一遍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漏算的加回去。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四百不一定还是四百。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9　这单做了多久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第1周</a:t>
            </a:r>
          </a:p>
        </p:txBody>
      </p:sp>
      <p:pic>
        <p:nvPicPr>
          <p:cNvPr id="5" name="Picture 4" descr="项目一-09A_十九天日历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7440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十九天。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钱被压着的这十九天，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还能不能拿去收第二台？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加分题　项目一第5暂停点　请暂停 20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这十九天里，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小新那八百块钱在干什么？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如果十九天能转两次，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他能赚多少？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写出「钱被压着，不能拿去收第二台」或算出「转两次能赚 360」——这题算 5 分。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10　转一次 vs 转两次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第1周</a:t>
            </a:r>
          </a:p>
        </p:txBody>
      </p:sp>
      <p:pic>
        <p:nvPicPr>
          <p:cNvPr id="5" name="Picture 4" descr="项目一-09_十九天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同样十九天。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转一次，和转两次，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赚的不一样。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　钱在转圈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第1周</a:t>
            </a:r>
          </a:p>
        </p:txBody>
      </p:sp>
      <p:pic>
        <p:nvPicPr>
          <p:cNvPr id="5" name="Picture 4" descr="项目一-25_钱在转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7440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钱不是躺着的。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钱在转。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　管什么，不管什么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第1周</a:t>
            </a:r>
          </a:p>
        </p:txBody>
      </p:sp>
      <p:pic>
        <p:nvPicPr>
          <p:cNvPr id="5" name="Picture 4" descr="项目一-26_管什么不管什么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7440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有的事会计要管。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有的事会计不管。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项目一第6暂停点　请暂停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下面这几件事，哪些会计要管，哪些不管？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① 店里进了一批珍珠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② 新来的店员很勤快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③ 客户欠了两千块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④ 隔壁开了家竞品店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写在册子上。管 / 不管，四个都写。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11　银行洽谈桌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第1周</a:t>
            </a:r>
          </a:p>
        </p:txBody>
      </p:sp>
      <p:pic>
        <p:nvPicPr>
          <p:cNvPr id="5" name="Picture 4" descr="项目一-10_银行洽谈桌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他去找银行借钱。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银行职员会问什么？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项目一第7暂停点　请暂停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如果你是那个银行职员，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你最想追问他哪三个问题？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写在册子上。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自己想，不要翻书。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12　师傅的三个问题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第1周</a:t>
            </a:r>
          </a:p>
        </p:txBody>
      </p:sp>
      <p:pic>
        <p:nvPicPr>
          <p:cNvPr id="5" name="Picture 4" descr="项目一-11_师傅的三个问题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银行要问的，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会计其实每天都在答。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13　同一件事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第1周</a:t>
            </a:r>
          </a:p>
        </p:txBody>
      </p:sp>
      <p:pic>
        <p:nvPicPr>
          <p:cNvPr id="5" name="Picture 4" descr="项目一-12_同一件事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管自己那两千五，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和管一家店，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是同一件事。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1 周收工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第1周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今天到这里。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最后 10 分钟：打开企业微信，填开学点单。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学号一定要填对。不是考试，没有标准答案。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打地鼠这周不用。下周才玩。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　第 2 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CC80"/>
                </a:solidFill>
                <a:latin typeface="微软雅黑"/>
                <a:ea typeface="微软雅黑"/>
                <a:cs typeface="微软雅黑"/>
              </a:rPr>
              <a:t>你有的、你欠的、真正属于你的。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15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会计等式　六大要素　最后 10 分钟打地鼠（要素档）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14　左右分栏的家当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第2周</a:t>
            </a:r>
          </a:p>
        </p:txBody>
      </p:sp>
      <p:pic>
        <p:nvPicPr>
          <p:cNvPr id="5" name="Picture 4" descr="项目一-13_左右分栏的家当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左边：你有什么。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右边：你欠什么。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手机、电脑、鞋都算。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分期、花呗、借的钱也算。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项目一第8暂停点　请暂停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写下你现在的全部身家。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左边写你有什么，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右边写你欠什么。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数字不用给别人看。只写在自己册子上。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15　风间的三个问题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第2周</a:t>
            </a:r>
          </a:p>
        </p:txBody>
      </p:sp>
      <p:pic>
        <p:nvPicPr>
          <p:cNvPr id="5" name="Picture 4" descr="项目一-14_风间的三个问题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有的、欠的、剩下的。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三笔账。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16　会计等式天平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第2周</a:t>
            </a:r>
          </a:p>
        </p:txBody>
      </p:sp>
      <p:pic>
        <p:nvPicPr>
          <p:cNvPr id="5" name="Picture 4" descr="项目一-15_会计等式天平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左边 = 右边。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真正属于小新自己的，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是减完之后剩的那个数。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项目一第9暂停点　请暂停 25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真正属于小新自己的是多少？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算完，把你自己的三个数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也填进天平里。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小新的、你自己的，同一张天平做两遍。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项目一第10暂停点　请暂停 20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为什么左边一定等于右边？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用你自己的话写一句。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不要求用术语。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17　三个名字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第2周</a:t>
            </a:r>
          </a:p>
        </p:txBody>
      </p:sp>
      <p:pic>
        <p:nvPicPr>
          <p:cNvPr id="5" name="Picture 4" descr="项目一-16_三个名字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有的，叫资产。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欠的，叫负债。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真正属于你的，叫所有者权益。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名字现在才给。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18　三块牌子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第2周</a:t>
            </a:r>
          </a:p>
        </p:txBody>
      </p:sp>
      <p:pic>
        <p:nvPicPr>
          <p:cNvPr id="5" name="Picture 4" descr="项目一-17_三块牌子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他妈问得清「家里有什么」。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后面两个问题，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她不一定问得出。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加分题　项目一第11暂停点　请暂停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他妈接下来要问的两个问题，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会是什么？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把你猜的写下来。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猜到「赚了多少」「花了多少」这个方向，这题算 5 分。写出「收入」「支出」「这个月变化」都算。不要求术语。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项目一第12暂停点　请暂停 20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要说清「这一个月发生了什么」，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需要几个新词？分别是什么？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先猜。下一张图给答案。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19　六个会计要素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第2周</a:t>
            </a:r>
          </a:p>
        </p:txBody>
      </p:sp>
      <p:pic>
        <p:nvPicPr>
          <p:cNvPr id="5" name="Picture 4" descr="项目一-18_六个会计要素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资产　负债　所有者权益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收入　费用　利润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六个词。这三周最重要的一张图。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打地鼠　要素档　大约 10 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每组派一个人上台。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题目：这个科目属于六大要素里的哪一个？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敲对的那只地鼠。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答对本组加分。连对三题加倍。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答错不扣人，只扣游戏分。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上台前先在电脑上敲上选手姓名。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　第 3 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CC80"/>
                </a:solidFill>
                <a:latin typeface="微软雅黑"/>
                <a:ea typeface="微软雅黑"/>
                <a:cs typeface="微软雅黑"/>
              </a:rPr>
              <a:t>五笔业务，天平一次都没歪。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15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天平实验室　最难的加分题　时间够再用后面几张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20　奶茶店的天平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第3周</a:t>
            </a:r>
          </a:p>
        </p:txBody>
      </p:sp>
      <p:pic>
        <p:nvPicPr>
          <p:cNvPr id="5" name="Picture 4" descr="项目一-19_奶茶店的天平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一家小店。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左边右边，还是要平。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21　第一天到第二十天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第3周</a:t>
            </a:r>
          </a:p>
        </p:txBody>
      </p:sp>
      <p:pic>
        <p:nvPicPr>
          <p:cNvPr id="5" name="Picture 4" descr="项目一-20_五笔业务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五笔业务，一笔一笔填。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每笔三格：左边怎么变、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右边怎么变、天平歪不歪。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项目一第13暂停点　请暂停 90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册子上那张五行表，跟着老师一笔一笔填。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每发生一件事填三格：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左边怎么变　右边怎么变　天平歪不歪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五行填完，数一下最后一列几个「平」。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90 秒。边看边填。挑战上台的人，每人 2 分。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 22　一次都没歪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第3周</a:t>
            </a:r>
          </a:p>
        </p:txBody>
      </p:sp>
      <p:pic>
        <p:nvPicPr>
          <p:cNvPr id="5" name="Picture 4" descr="项目一-21_一次都没歪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2128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五笔都平。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一次都没歪。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加分题　项目一第14暂停点　请暂停 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回头看你填的那五行。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这五笔业务，能不能归成两类？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5D4037"/>
                </a:solidFill>
                <a:latin typeface="微软雅黑"/>
                <a:ea typeface="微软雅黑"/>
                <a:cs typeface="微软雅黑"/>
              </a:rPr>
              <a:t>自己归。写出「同一边一增一减」和「两边同增同减」这两个意思，这题算 5 分。不要求用术语。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时间够再用（机动）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第3周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后面五张是备用。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主线讲完、还剩几分钟，再翻。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不够就下课。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机动　哪些算资产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机动</a:t>
            </a:r>
          </a:p>
        </p:txBody>
      </p:sp>
      <p:pic>
        <p:nvPicPr>
          <p:cNvPr id="5" name="Picture 4" descr="项目一-27_猜猜看哪些是资产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7440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猜猜看。写在册子上。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机动　六大要素连线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机动</a:t>
            </a:r>
          </a:p>
        </p:txBody>
      </p:sp>
      <p:pic>
        <p:nvPicPr>
          <p:cNvPr id="5" name="Picture 4" descr="项目一-28_连线六大要素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7440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例子和六个词对上。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机动　找茬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机动</a:t>
            </a:r>
          </a:p>
        </p:txBody>
      </p:sp>
      <p:pic>
        <p:nvPicPr>
          <p:cNvPr id="5" name="Picture 4" descr="项目一-29_找茬清单算错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7440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这张清单哪个数算错了。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机动　开店五件事排序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机动</a:t>
            </a:r>
          </a:p>
        </p:txBody>
      </p:sp>
      <p:pic>
        <p:nvPicPr>
          <p:cNvPr id="5" name="Picture 4" descr="项目一-30_排序开店五件事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7440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先做什么，后做什么。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机动　一个学生 vs 一家店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机动</a:t>
            </a:r>
          </a:p>
        </p:txBody>
      </p:sp>
      <p:pic>
        <p:nvPicPr>
          <p:cNvPr id="5" name="Picture 4" descr="项目一-31_对比学生与店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9997440" cy="5623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051560"/>
            <a:ext cx="4023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同一套东西，换个规模。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9326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这三周记住什么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0116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1. 记下来、看出不对劲、决定怎么改。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2. 有的 = 欠的 + 真正属于你的。天平不能歪。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3. 六个词。名字是后来才有的，事先你已经算过一遍。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212121"/>
                </a:solidFill>
                <a:latin typeface="微软雅黑"/>
                <a:ea typeface="微软雅黑"/>
                <a:cs typeface="微软雅黑"/>
              </a:rPr>
              <a:t>下个项目：会计工作准备。科目会更多，等式还是这一条。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